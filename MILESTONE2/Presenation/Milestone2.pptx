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085D637-158B-4586-8B79-3189E6A3D13E}" type="datetimeFigureOut">
              <a:rPr lang="en-IN" smtClean="0"/>
              <a:t>09-11-2025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FEB4B064-3CA2-4173-A816-34D0E43826C8}" type="slidenum">
              <a:rPr lang="en-IN" smtClean="0"/>
              <a:t>‹#›</a:t>
            </a:fld>
            <a:endParaRPr lang="en-IN"/>
          </a:p>
        </p:txBody>
      </p:sp>
    </p:spTree>
    <p:extLst>
      <p:ext uri="{BB962C8B-B14F-4D97-AF65-F5344CB8AC3E}">
        <p14:creationId xmlns:p14="http://schemas.microsoft.com/office/powerpoint/2010/main" val="3165019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85D637-158B-4586-8B79-3189E6A3D13E}"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1026219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085D637-158B-4586-8B79-3189E6A3D13E}" type="datetimeFigureOut">
              <a:rPr lang="en-IN" smtClean="0"/>
              <a:t>09-11-2025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EB4B064-3CA2-4173-A816-34D0E43826C8}" type="slidenum">
              <a:rPr lang="en-IN" smtClean="0"/>
              <a:t>‹#›</a:t>
            </a:fld>
            <a:endParaRPr lang="en-IN"/>
          </a:p>
        </p:txBody>
      </p:sp>
    </p:spTree>
    <p:extLst>
      <p:ext uri="{BB962C8B-B14F-4D97-AF65-F5344CB8AC3E}">
        <p14:creationId xmlns:p14="http://schemas.microsoft.com/office/powerpoint/2010/main" val="4221935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85D637-158B-4586-8B79-3189E6A3D13E}" type="datetimeFigureOut">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421984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85D637-158B-4586-8B79-3189E6A3D13E}" type="datetimeFigureOut">
              <a:rPr lang="en-IN" smtClean="0"/>
              <a:t>09-11-2025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246786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85D637-158B-4586-8B79-3189E6A3D13E}" type="datetimeFigureOut">
              <a:rPr lang="en-IN" smtClean="0"/>
              <a:t>09-11-2025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1059219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85D637-158B-4586-8B79-3189E6A3D13E}" type="datetimeFigureOut">
              <a:rPr lang="en-IN" smtClean="0"/>
              <a:t>09-11-2025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4080807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085D637-158B-4586-8B79-3189E6A3D13E}" type="datetimeFigureOut">
              <a:rPr lang="en-IN" smtClean="0"/>
              <a:t>09-11-2025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EB4B064-3CA2-4173-A816-34D0E43826C8}" type="slidenum">
              <a:rPr lang="en-IN" smtClean="0"/>
              <a:t>‹#›</a:t>
            </a:fld>
            <a:endParaRPr lang="en-IN"/>
          </a:p>
        </p:txBody>
      </p:sp>
    </p:spTree>
    <p:extLst>
      <p:ext uri="{BB962C8B-B14F-4D97-AF65-F5344CB8AC3E}">
        <p14:creationId xmlns:p14="http://schemas.microsoft.com/office/powerpoint/2010/main" val="198803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85D637-158B-4586-8B79-3189E6A3D13E}" type="datetimeFigureOut">
              <a:rPr lang="en-IN" smtClean="0"/>
              <a:t>09-11-2025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936115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85D637-158B-4586-8B79-3189E6A3D13E}" type="datetimeFigureOut">
              <a:rPr lang="en-IN" smtClean="0"/>
              <a:t>09-11-2025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B4B064-3CA2-4173-A816-34D0E43826C8}" type="slidenum">
              <a:rPr lang="en-IN" smtClean="0"/>
              <a:t>‹#›</a:t>
            </a:fld>
            <a:endParaRPr lang="en-IN"/>
          </a:p>
        </p:txBody>
      </p:sp>
    </p:spTree>
    <p:extLst>
      <p:ext uri="{BB962C8B-B14F-4D97-AF65-F5344CB8AC3E}">
        <p14:creationId xmlns:p14="http://schemas.microsoft.com/office/powerpoint/2010/main" val="2325123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085D637-158B-4586-8B79-3189E6A3D13E}" type="datetimeFigureOut">
              <a:rPr lang="en-IN" smtClean="0"/>
              <a:t>09-11-2025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FEB4B064-3CA2-4173-A816-34D0E43826C8}" type="slidenum">
              <a:rPr lang="en-IN" smtClean="0"/>
              <a:t>‹#›</a:t>
            </a:fld>
            <a:endParaRPr lang="en-IN"/>
          </a:p>
        </p:txBody>
      </p:sp>
    </p:spTree>
    <p:extLst>
      <p:ext uri="{BB962C8B-B14F-4D97-AF65-F5344CB8AC3E}">
        <p14:creationId xmlns:p14="http://schemas.microsoft.com/office/powerpoint/2010/main" val="4291704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085D637-158B-4586-8B79-3189E6A3D13E}" type="datetimeFigureOut">
              <a:rPr lang="en-IN" smtClean="0"/>
              <a:t>09-11-2025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FEB4B064-3CA2-4173-A816-34D0E43826C8}"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04449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EFEA6-3EF1-F9E9-7194-C76C00FFEB5E}"/>
              </a:ext>
            </a:extLst>
          </p:cNvPr>
          <p:cNvSpPr>
            <a:spLocks noGrp="1"/>
          </p:cNvSpPr>
          <p:nvPr>
            <p:ph type="ctrTitle"/>
          </p:nvPr>
        </p:nvSpPr>
        <p:spPr>
          <a:xfrm>
            <a:off x="832104" y="859536"/>
            <a:ext cx="10314432" cy="1645920"/>
          </a:xfrm>
        </p:spPr>
        <p:txBody>
          <a:bodyPr>
            <a:normAutofit/>
          </a:bodyPr>
          <a:lstStyle/>
          <a:p>
            <a:r>
              <a:rPr lang="en-IN" sz="3200" dirty="0">
                <a:latin typeface="Times New Roman" panose="02020603050405020304" pitchFamily="18" charset="0"/>
                <a:cs typeface="Times New Roman" panose="02020603050405020304" pitchFamily="18" charset="0"/>
              </a:rPr>
              <a:t>AI-Powered Enhanced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EHR Imaging &amp; Documentation System </a:t>
            </a:r>
          </a:p>
        </p:txBody>
      </p:sp>
      <p:sp>
        <p:nvSpPr>
          <p:cNvPr id="3" name="Subtitle 2">
            <a:extLst>
              <a:ext uri="{FF2B5EF4-FFF2-40B4-BE49-F238E27FC236}">
                <a16:creationId xmlns:a16="http://schemas.microsoft.com/office/drawing/2014/main" id="{13BFF8D4-EDDC-E796-DC24-769C77AE3C30}"/>
              </a:ext>
            </a:extLst>
          </p:cNvPr>
          <p:cNvSpPr>
            <a:spLocks noGrp="1"/>
          </p:cNvSpPr>
          <p:nvPr>
            <p:ph type="subTitle" idx="1"/>
          </p:nvPr>
        </p:nvSpPr>
        <p:spPr>
          <a:xfrm>
            <a:off x="832104" y="2505456"/>
            <a:ext cx="6801612" cy="1239894"/>
          </a:xfrm>
        </p:spPr>
        <p:txBody>
          <a:bodyPr/>
          <a:lstStyle/>
          <a:p>
            <a:r>
              <a:rPr lang="en-US" dirty="0">
                <a:latin typeface="Times New Roman" panose="02020603050405020304" pitchFamily="18" charset="0"/>
                <a:cs typeface="Times New Roman" panose="02020603050405020304" pitchFamily="18" charset="0"/>
              </a:rPr>
              <a:t>Milestone 2: Medical Image Enhancement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BDB3D5F-2797-D0A2-5952-BDE71C4BEDE4}"/>
              </a:ext>
            </a:extLst>
          </p:cNvPr>
          <p:cNvSpPr txBox="1"/>
          <p:nvPr/>
        </p:nvSpPr>
        <p:spPr>
          <a:xfrm>
            <a:off x="6528816" y="3336882"/>
            <a:ext cx="2569464" cy="203132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Team A Details:</a:t>
            </a:r>
          </a:p>
          <a:p>
            <a:endParaRPr lang="en-US" dirty="0">
              <a:solidFill>
                <a:schemeClr val="bg1"/>
              </a:solidFill>
              <a:latin typeface="Times New Roman" panose="02020603050405020304" pitchFamily="18" charset="0"/>
              <a:cs typeface="Times New Roman" panose="02020603050405020304" pitchFamily="18" charset="0"/>
            </a:endParaRPr>
          </a:p>
          <a:p>
            <a:r>
              <a:rPr lang="en-IN" dirty="0">
                <a:solidFill>
                  <a:schemeClr val="bg1"/>
                </a:solidFill>
                <a:latin typeface="Times New Roman" panose="02020603050405020304" pitchFamily="18" charset="0"/>
                <a:cs typeface="Times New Roman" panose="02020603050405020304" pitchFamily="18" charset="0"/>
              </a:rPr>
              <a:t>Anushka More </a:t>
            </a:r>
          </a:p>
          <a:p>
            <a:r>
              <a:rPr lang="en-IN" dirty="0">
                <a:solidFill>
                  <a:schemeClr val="bg1"/>
                </a:solidFill>
                <a:latin typeface="Times New Roman" panose="02020603050405020304" pitchFamily="18" charset="0"/>
                <a:cs typeface="Times New Roman" panose="02020603050405020304" pitchFamily="18" charset="0"/>
              </a:rPr>
              <a:t>Aishwarya N</a:t>
            </a:r>
          </a:p>
          <a:p>
            <a:r>
              <a:rPr lang="en-IN" dirty="0">
                <a:solidFill>
                  <a:schemeClr val="bg1"/>
                </a:solidFill>
                <a:latin typeface="Times New Roman" panose="02020603050405020304" pitchFamily="18" charset="0"/>
                <a:cs typeface="Times New Roman" panose="02020603050405020304" pitchFamily="18" charset="0"/>
              </a:rPr>
              <a:t>Gade Sriraj</a:t>
            </a:r>
          </a:p>
          <a:p>
            <a:r>
              <a:rPr lang="en-IN" dirty="0">
                <a:solidFill>
                  <a:schemeClr val="bg1"/>
                </a:solidFill>
                <a:latin typeface="Times New Roman" panose="02020603050405020304" pitchFamily="18" charset="0"/>
                <a:cs typeface="Times New Roman" panose="02020603050405020304" pitchFamily="18" charset="0"/>
              </a:rPr>
              <a:t>Nikshitha Jampana</a:t>
            </a:r>
          </a:p>
          <a:p>
            <a:r>
              <a:rPr lang="en-IN" dirty="0">
                <a:solidFill>
                  <a:schemeClr val="bg1"/>
                </a:solidFill>
                <a:latin typeface="Times New Roman" panose="02020603050405020304" pitchFamily="18" charset="0"/>
                <a:cs typeface="Times New Roman" panose="02020603050405020304" pitchFamily="18" charset="0"/>
              </a:rPr>
              <a:t>Harika </a:t>
            </a:r>
            <a:r>
              <a:rPr lang="en-IN" dirty="0" err="1">
                <a:solidFill>
                  <a:schemeClr val="bg1"/>
                </a:solidFill>
                <a:latin typeface="Times New Roman" panose="02020603050405020304" pitchFamily="18" charset="0"/>
                <a:cs typeface="Times New Roman" panose="02020603050405020304" pitchFamily="18" charset="0"/>
              </a:rPr>
              <a:t>Abbarla</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BBC35FF-76EA-19C7-9142-6202A6F65BF5}"/>
              </a:ext>
            </a:extLst>
          </p:cNvPr>
          <p:cNvSpPr txBox="1"/>
          <p:nvPr/>
        </p:nvSpPr>
        <p:spPr>
          <a:xfrm>
            <a:off x="8577072" y="3613881"/>
            <a:ext cx="2267712" cy="1754326"/>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Jennifer J</a:t>
            </a:r>
          </a:p>
          <a:p>
            <a:r>
              <a:rPr lang="en-IN" dirty="0">
                <a:solidFill>
                  <a:schemeClr val="bg1"/>
                </a:solidFill>
                <a:latin typeface="Times New Roman" panose="02020603050405020304" pitchFamily="18" charset="0"/>
                <a:cs typeface="Times New Roman" panose="02020603050405020304" pitchFamily="18" charset="0"/>
              </a:rPr>
              <a:t>Priya Kumari</a:t>
            </a:r>
          </a:p>
          <a:p>
            <a:r>
              <a:rPr lang="en-IN" dirty="0">
                <a:solidFill>
                  <a:schemeClr val="bg1"/>
                </a:solidFill>
                <a:latin typeface="Times New Roman" panose="02020603050405020304" pitchFamily="18" charset="0"/>
                <a:cs typeface="Times New Roman" panose="02020603050405020304" pitchFamily="18" charset="0"/>
              </a:rPr>
              <a:t>Shalini Kumari</a:t>
            </a:r>
          </a:p>
          <a:p>
            <a:r>
              <a:rPr lang="en-IN" dirty="0">
                <a:solidFill>
                  <a:schemeClr val="bg1"/>
                </a:solidFill>
                <a:latin typeface="Times New Roman" panose="02020603050405020304" pitchFamily="18" charset="0"/>
                <a:cs typeface="Times New Roman" panose="02020603050405020304" pitchFamily="18" charset="0"/>
              </a:rPr>
              <a:t>Soham Patil</a:t>
            </a:r>
          </a:p>
          <a:p>
            <a:r>
              <a:rPr lang="en-IN" dirty="0">
                <a:solidFill>
                  <a:schemeClr val="bg1"/>
                </a:solidFill>
                <a:latin typeface="Times New Roman" panose="02020603050405020304" pitchFamily="18" charset="0"/>
                <a:cs typeface="Times New Roman" panose="02020603050405020304" pitchFamily="18" charset="0"/>
              </a:rPr>
              <a:t>Sonia Shetkar</a:t>
            </a:r>
          </a:p>
          <a:p>
            <a:r>
              <a:rPr lang="en-IN" dirty="0">
                <a:solidFill>
                  <a:schemeClr val="bg1"/>
                </a:solidFill>
                <a:latin typeface="Times New Roman" panose="02020603050405020304" pitchFamily="18" charset="0"/>
                <a:cs typeface="Times New Roman" panose="02020603050405020304" pitchFamily="18" charset="0"/>
              </a:rPr>
              <a:t>Sreesha Reddy</a:t>
            </a:r>
          </a:p>
        </p:txBody>
      </p:sp>
      <p:sp>
        <p:nvSpPr>
          <p:cNvPr id="6" name="TextBox 5">
            <a:extLst>
              <a:ext uri="{FF2B5EF4-FFF2-40B4-BE49-F238E27FC236}">
                <a16:creationId xmlns:a16="http://schemas.microsoft.com/office/drawing/2014/main" id="{AE6A823B-16E3-1A06-A998-7F4E346D465C}"/>
              </a:ext>
            </a:extLst>
          </p:cNvPr>
          <p:cNvSpPr txBox="1"/>
          <p:nvPr/>
        </p:nvSpPr>
        <p:spPr>
          <a:xfrm>
            <a:off x="6528816" y="5550407"/>
            <a:ext cx="3419856"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Mentor: Aryan Khurana </a:t>
            </a:r>
          </a:p>
        </p:txBody>
      </p:sp>
    </p:spTree>
    <p:extLst>
      <p:ext uri="{BB962C8B-B14F-4D97-AF65-F5344CB8AC3E}">
        <p14:creationId xmlns:p14="http://schemas.microsoft.com/office/powerpoint/2010/main" val="267516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1AB3-4E74-E61F-75CA-A242DE9FC855}"/>
              </a:ext>
            </a:extLst>
          </p:cNvPr>
          <p:cNvSpPr>
            <a:spLocks noGrp="1"/>
          </p:cNvSpPr>
          <p:nvPr>
            <p:ph type="title"/>
          </p:nvPr>
        </p:nvSpPr>
        <p:spPr>
          <a:xfrm>
            <a:off x="645200" y="802740"/>
            <a:ext cx="11029616" cy="1013800"/>
          </a:xfrm>
        </p:spPr>
        <p:txBody>
          <a:bodyPr/>
          <a:lstStyle/>
          <a:p>
            <a:r>
              <a:rPr lang="en-IN" b="1" dirty="0">
                <a:latin typeface="Times New Roman" panose="02020603050405020304" pitchFamily="18" charset="0"/>
                <a:cs typeface="Times New Roman" panose="02020603050405020304" pitchFamily="18" charset="0"/>
              </a:rPr>
              <a:t>Project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0DCA8A-744C-B492-B708-1FBEBEE19EDF}"/>
              </a:ext>
            </a:extLst>
          </p:cNvPr>
          <p:cNvSpPr>
            <a:spLocks noGrp="1"/>
          </p:cNvSpPr>
          <p:nvPr>
            <p:ph idx="1"/>
          </p:nvPr>
        </p:nvSpPr>
        <p:spPr>
          <a:xfrm>
            <a:off x="969265" y="1723296"/>
            <a:ext cx="9701784" cy="3678303"/>
          </a:xfrm>
        </p:spPr>
        <p:txBody>
          <a:bodyPr/>
          <a:lstStyle/>
          <a:p>
            <a:pPr algn="just"/>
            <a:r>
              <a:rPr lang="en-IN" dirty="0">
                <a:latin typeface="Times New Roman" panose="02020603050405020304" pitchFamily="18" charset="0"/>
                <a:cs typeface="Times New Roman" panose="02020603050405020304" pitchFamily="18" charset="0"/>
              </a:rPr>
              <a:t>This project aims to enhance Electronic Health Records (EHR) by integrating Generative AI capabilities for medical image analysis and administrative automation. GenAI will be used to improve the clarity and interpretability of medical imaging (e.g., X-rays, MRIs, CTs), and to automate clinical documentation and ICD-10 coding. These enhancements will help reduce the time clinicians spend on non-clinical tasks and support faster, more accurate decision-making. Azure OpenAI will power the GenAI-driven components.</a:t>
            </a:r>
          </a:p>
          <a:p>
            <a:pPr marL="0" indent="0" algn="just">
              <a:buNone/>
            </a:pPr>
            <a:endParaRPr lang="en-IN" dirty="0"/>
          </a:p>
        </p:txBody>
      </p:sp>
    </p:spTree>
    <p:extLst>
      <p:ext uri="{BB962C8B-B14F-4D97-AF65-F5344CB8AC3E}">
        <p14:creationId xmlns:p14="http://schemas.microsoft.com/office/powerpoint/2010/main" val="1193805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C983D-4A8C-2C37-53D3-0A541AC9AB6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2: Medical Imaging Enhancement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2E6FAA-7158-B397-AD8B-9CD878B62C9D}"/>
              </a:ext>
            </a:extLst>
          </p:cNvPr>
          <p:cNvSpPr>
            <a:spLocks noGrp="1"/>
          </p:cNvSpPr>
          <p:nvPr>
            <p:ph idx="1"/>
          </p:nvPr>
        </p:nvSpPr>
        <p:spPr>
          <a:xfrm>
            <a:off x="457200" y="1814736"/>
            <a:ext cx="9983175" cy="3678303"/>
          </a:xfrm>
        </p:spPr>
        <p:txBody>
          <a:bodyPr/>
          <a:lstStyle/>
          <a:p>
            <a:r>
              <a:rPr lang="en-IN" b="1" dirty="0">
                <a:latin typeface="Times New Roman" panose="02020603050405020304" pitchFamily="18" charset="0"/>
                <a:cs typeface="Times New Roman" panose="02020603050405020304" pitchFamily="18" charset="0"/>
              </a:rPr>
              <a:t>Objective:</a:t>
            </a:r>
            <a:r>
              <a:rPr lang="en-IN" dirty="0">
                <a:latin typeface="Times New Roman" panose="02020603050405020304" pitchFamily="18" charset="0"/>
                <a:cs typeface="Times New Roman" panose="02020603050405020304" pitchFamily="18" charset="0"/>
              </a:rPr>
              <a:t> Use GenAI to enhance image quality and support diagnosis</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Tasks: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Apply GenAI for denoising and realistic reconstruction of medical images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Support better visualization for clinicians by improving image resolution and clarity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Train image enhancement models using Azure OpenAI tools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701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E7E7-CE1D-F42A-25CF-6B05B53FBC4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01FDADDB-B3E9-AE29-CC23-9928E1F076FA}"/>
              </a:ext>
            </a:extLst>
          </p:cNvPr>
          <p:cNvSpPr>
            <a:spLocks noGrp="1"/>
          </p:cNvSpPr>
          <p:nvPr>
            <p:ph idx="1"/>
          </p:nvPr>
        </p:nvSpPr>
        <p:spPr>
          <a:xfrm>
            <a:off x="489752" y="1019958"/>
            <a:ext cx="11029615" cy="3869578"/>
          </a:xfrm>
        </p:spPr>
        <p:txBody>
          <a:bodyPr/>
          <a:lstStyle/>
          <a:p>
            <a:r>
              <a:rPr lang="en-US" dirty="0">
                <a:latin typeface="Times New Roman" panose="02020603050405020304" pitchFamily="18" charset="0"/>
                <a:cs typeface="Times New Roman" panose="02020603050405020304" pitchFamily="18" charset="0"/>
              </a:rPr>
              <a:t>Step 1: Dataset Selection </a:t>
            </a:r>
          </a:p>
          <a:p>
            <a:pPr marL="0" indent="0">
              <a:buNone/>
            </a:pPr>
            <a:r>
              <a:rPr lang="en-US" dirty="0">
                <a:latin typeface="Times New Roman" panose="02020603050405020304" pitchFamily="18" charset="0"/>
                <a:cs typeface="Times New Roman" panose="02020603050405020304" pitchFamily="18" charset="0"/>
              </a:rPr>
              <a:t>• Datasets Used: o Heart CT and MRI images from Kaggle o Preprocessed X-ray images from Milestone 1(for demo purposes) </a:t>
            </a:r>
          </a:p>
          <a:p>
            <a:pPr marL="0" indent="0">
              <a:buNone/>
            </a:pPr>
            <a:r>
              <a:rPr lang="en-US" dirty="0">
                <a:latin typeface="Times New Roman" panose="02020603050405020304" pitchFamily="18" charset="0"/>
                <a:cs typeface="Times New Roman" panose="02020603050405020304" pitchFamily="18" charset="0"/>
              </a:rPr>
              <a:t>• Images cover diverse orientations and resolutions to test AI enhancement effectiveness. </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4EF852-1F5A-BDED-BCDF-C130A65D9ED7}"/>
              </a:ext>
            </a:extLst>
          </p:cNvPr>
          <p:cNvPicPr>
            <a:picLocks noChangeAspect="1"/>
          </p:cNvPicPr>
          <p:nvPr/>
        </p:nvPicPr>
        <p:blipFill>
          <a:blip r:embed="rId2"/>
          <a:stretch>
            <a:fillRect/>
          </a:stretch>
        </p:blipFill>
        <p:spPr>
          <a:xfrm>
            <a:off x="1945595" y="3574009"/>
            <a:ext cx="7600742" cy="2846033"/>
          </a:xfrm>
          <a:prstGeom prst="rect">
            <a:avLst/>
          </a:prstGeom>
        </p:spPr>
      </p:pic>
    </p:spTree>
    <p:extLst>
      <p:ext uri="{BB962C8B-B14F-4D97-AF65-F5344CB8AC3E}">
        <p14:creationId xmlns:p14="http://schemas.microsoft.com/office/powerpoint/2010/main" val="2624795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78A6-F323-3469-79E8-FC99054D969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5CB182E2-145F-257B-DAD9-3884B8990751}"/>
              </a:ext>
            </a:extLst>
          </p:cNvPr>
          <p:cNvSpPr>
            <a:spLocks noGrp="1"/>
          </p:cNvSpPr>
          <p:nvPr>
            <p:ph idx="1"/>
          </p:nvPr>
        </p:nvSpPr>
        <p:spPr>
          <a:xfrm>
            <a:off x="434889" y="1988472"/>
            <a:ext cx="4978360" cy="3678303"/>
          </a:xfrm>
        </p:spPr>
        <p:txBody>
          <a:bodyPr/>
          <a:lstStyle/>
          <a:p>
            <a:r>
              <a:rPr lang="en-US" dirty="0">
                <a:latin typeface="Times New Roman" panose="02020603050405020304" pitchFamily="18" charset="0"/>
                <a:cs typeface="Times New Roman" panose="02020603050405020304" pitchFamily="18" charset="0"/>
              </a:rPr>
              <a:t>Step 2: Image Preprocessing </a:t>
            </a:r>
          </a:p>
          <a:p>
            <a:pPr marL="0" indent="0">
              <a:buNone/>
            </a:pPr>
            <a:r>
              <a:rPr lang="en-US" dirty="0">
                <a:latin typeface="Times New Roman" panose="02020603050405020304" pitchFamily="18" charset="0"/>
                <a:cs typeface="Times New Roman" panose="02020603050405020304" pitchFamily="18" charset="0"/>
              </a:rPr>
              <a:t>• Convert images to .</a:t>
            </a:r>
            <a:r>
              <a:rPr lang="en-US" dirty="0" err="1">
                <a:latin typeface="Times New Roman" panose="02020603050405020304" pitchFamily="18" charset="0"/>
                <a:cs typeface="Times New Roman" panose="02020603050405020304" pitchFamily="18" charset="0"/>
              </a:rPr>
              <a:t>png</a:t>
            </a:r>
            <a:r>
              <a:rPr lang="en-US" dirty="0">
                <a:latin typeface="Times New Roman" panose="02020603050405020304" pitchFamily="18" charset="0"/>
                <a:cs typeface="Times New Roman" panose="02020603050405020304" pitchFamily="18" charset="0"/>
              </a:rPr>
              <a:t> format for consistency. </a:t>
            </a:r>
          </a:p>
          <a:p>
            <a:pPr marL="0" indent="0">
              <a:buNone/>
            </a:pPr>
            <a:r>
              <a:rPr lang="en-US" dirty="0">
                <a:latin typeface="Times New Roman" panose="02020603050405020304" pitchFamily="18" charset="0"/>
                <a:cs typeface="Times New Roman" panose="02020603050405020304" pitchFamily="18" charset="0"/>
              </a:rPr>
              <a:t>• Resize all images to 256×256 pixels. </a:t>
            </a:r>
          </a:p>
          <a:p>
            <a:pPr marL="0" indent="0">
              <a:buNone/>
            </a:pPr>
            <a:r>
              <a:rPr lang="en-US" dirty="0">
                <a:latin typeface="Times New Roman" panose="02020603050405020304" pitchFamily="18" charset="0"/>
                <a:cs typeface="Times New Roman" panose="02020603050405020304" pitchFamily="18" charset="0"/>
              </a:rPr>
              <a:t>• Normalize pixel values between 0 and 1. </a:t>
            </a:r>
          </a:p>
          <a:p>
            <a:pPr marL="0" indent="0">
              <a:buNone/>
            </a:pPr>
            <a:r>
              <a:rPr lang="en-US" dirty="0">
                <a:latin typeface="Times New Roman" panose="02020603050405020304" pitchFamily="18" charset="0"/>
                <a:cs typeface="Times New Roman" panose="02020603050405020304" pitchFamily="18" charset="0"/>
              </a:rPr>
              <a:t>• Split dataset into 80% training and 20% testing.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E26040-2C4A-43A2-DFDF-0457215AAF6A}"/>
              </a:ext>
            </a:extLst>
          </p:cNvPr>
          <p:cNvPicPr>
            <a:picLocks noChangeAspect="1"/>
          </p:cNvPicPr>
          <p:nvPr/>
        </p:nvPicPr>
        <p:blipFill>
          <a:blip r:embed="rId2"/>
          <a:stretch>
            <a:fillRect/>
          </a:stretch>
        </p:blipFill>
        <p:spPr>
          <a:xfrm>
            <a:off x="5248282" y="2384932"/>
            <a:ext cx="6362526" cy="3469160"/>
          </a:xfrm>
          <a:prstGeom prst="rect">
            <a:avLst/>
          </a:prstGeom>
        </p:spPr>
      </p:pic>
    </p:spTree>
    <p:extLst>
      <p:ext uri="{BB962C8B-B14F-4D97-AF65-F5344CB8AC3E}">
        <p14:creationId xmlns:p14="http://schemas.microsoft.com/office/powerpoint/2010/main" val="1571176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AE44-F56C-94B0-8987-FFDD04E9BC0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D628F5CB-3367-69A8-84B5-7F06913A1762}"/>
              </a:ext>
            </a:extLst>
          </p:cNvPr>
          <p:cNvSpPr>
            <a:spLocks noGrp="1"/>
          </p:cNvSpPr>
          <p:nvPr>
            <p:ph idx="1"/>
          </p:nvPr>
        </p:nvSpPr>
        <p:spPr>
          <a:xfrm>
            <a:off x="581192" y="1864168"/>
            <a:ext cx="5216104" cy="3678303"/>
          </a:xfrm>
        </p:spPr>
        <p:txBody>
          <a:bodyPr/>
          <a:lstStyle/>
          <a:p>
            <a:r>
              <a:rPr lang="en-US" dirty="0">
                <a:latin typeface="Times New Roman" panose="02020603050405020304" pitchFamily="18" charset="0"/>
                <a:cs typeface="Times New Roman" panose="02020603050405020304" pitchFamily="18" charset="0"/>
              </a:rPr>
              <a:t>Step 3: AI Technique – SRCNN </a:t>
            </a:r>
          </a:p>
          <a:p>
            <a:pPr marL="0" indent="0">
              <a:buNone/>
            </a:pPr>
            <a:r>
              <a:rPr lang="en-US" dirty="0">
                <a:latin typeface="Times New Roman" panose="02020603050405020304" pitchFamily="18" charset="0"/>
                <a:cs typeface="Times New Roman" panose="02020603050405020304" pitchFamily="18" charset="0"/>
              </a:rPr>
              <a:t>• SRCNN learns a mapping from low-resolution to high-resolution images.</a:t>
            </a:r>
          </a:p>
          <a:p>
            <a:pPr marL="342900" indent="-342900">
              <a:buAutoNum type="arabicPeriod"/>
            </a:pPr>
            <a:r>
              <a:rPr lang="en-IN" dirty="0">
                <a:latin typeface="Times New Roman" panose="02020603050405020304" pitchFamily="18" charset="0"/>
                <a:cs typeface="Times New Roman" panose="02020603050405020304" pitchFamily="18" charset="0"/>
              </a:rPr>
              <a:t>Conv2D(64 filters, 9×9) – feature extraction </a:t>
            </a:r>
          </a:p>
          <a:p>
            <a:pPr marL="342900" indent="-342900">
              <a:buAutoNum type="arabicPeriod"/>
            </a:pPr>
            <a:r>
              <a:rPr lang="en-IN" dirty="0">
                <a:latin typeface="Times New Roman" panose="02020603050405020304" pitchFamily="18" charset="0"/>
                <a:cs typeface="Times New Roman" panose="02020603050405020304" pitchFamily="18" charset="0"/>
              </a:rPr>
              <a:t>Conv2D(32 filters, 1×1) – non-linear mapping </a:t>
            </a:r>
          </a:p>
          <a:p>
            <a:pPr marL="342900" indent="-342900">
              <a:buAutoNum type="arabicPeriod"/>
            </a:pPr>
            <a:r>
              <a:rPr lang="en-IN" dirty="0">
                <a:latin typeface="Times New Roman" panose="02020603050405020304" pitchFamily="18" charset="0"/>
                <a:cs typeface="Times New Roman" panose="02020603050405020304" pitchFamily="18" charset="0"/>
              </a:rPr>
              <a:t>Conv2D(1 filter, 5×5) – reconstruction</a:t>
            </a:r>
          </a:p>
        </p:txBody>
      </p:sp>
      <p:sp>
        <p:nvSpPr>
          <p:cNvPr id="4" name="TextBox 3">
            <a:extLst>
              <a:ext uri="{FF2B5EF4-FFF2-40B4-BE49-F238E27FC236}">
                <a16:creationId xmlns:a16="http://schemas.microsoft.com/office/drawing/2014/main" id="{0CF1F5AF-7286-6B71-434D-BF03E6496A37}"/>
              </a:ext>
            </a:extLst>
          </p:cNvPr>
          <p:cNvSpPr txBox="1"/>
          <p:nvPr/>
        </p:nvSpPr>
        <p:spPr>
          <a:xfrm>
            <a:off x="6181344" y="2410657"/>
            <a:ext cx="5148072" cy="2585323"/>
          </a:xfrm>
          <a:prstGeom prst="rect">
            <a:avLst/>
          </a:prstGeom>
          <a:noFill/>
        </p:spPr>
        <p:txBody>
          <a:bodyPr wrap="square" rtlCol="0">
            <a:spAutoFit/>
          </a:bodyPr>
          <a:lstStyle/>
          <a:p>
            <a:pPr marL="285750" indent="-285750">
              <a:buClr>
                <a:schemeClr val="accent3">
                  <a:lumMod val="75000"/>
                </a:schemeClr>
              </a:buCl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Advantages: </a:t>
            </a:r>
          </a:p>
          <a:p>
            <a:pPr marL="342900" indent="-342900">
              <a:buClr>
                <a:schemeClr val="accent3">
                  <a:lumMod val="50000"/>
                </a:schemeClr>
              </a:buClr>
              <a:buFont typeface="+mj-lt"/>
              <a:buAutoNum type="arabicPeriod"/>
            </a:pPr>
            <a:r>
              <a:rPr lang="en-IN" dirty="0">
                <a:latin typeface="Times New Roman" panose="02020603050405020304" pitchFamily="18" charset="0"/>
                <a:cs typeface="Times New Roman" panose="02020603050405020304" pitchFamily="18" charset="0"/>
              </a:rPr>
              <a:t>• Lightweight and </a:t>
            </a:r>
            <a:r>
              <a:rPr lang="en-IN" dirty="0" err="1">
                <a:latin typeface="Times New Roman" panose="02020603050405020304" pitchFamily="18" charset="0"/>
                <a:cs typeface="Times New Roman" panose="02020603050405020304" pitchFamily="18" charset="0"/>
              </a:rPr>
              <a:t>suitale</a:t>
            </a:r>
            <a:r>
              <a:rPr lang="en-IN" dirty="0">
                <a:latin typeface="Times New Roman" panose="02020603050405020304" pitchFamily="18" charset="0"/>
                <a:cs typeface="Times New Roman" panose="02020603050405020304" pitchFamily="18" charset="0"/>
              </a:rPr>
              <a:t> for small GPU setups. </a:t>
            </a:r>
          </a:p>
          <a:p>
            <a:pPr marL="342900" indent="-342900">
              <a:buClr>
                <a:schemeClr val="accent3">
                  <a:lumMod val="50000"/>
                </a:schemeClr>
              </a:buClr>
              <a:buFont typeface="+mj-lt"/>
              <a:buAutoNum type="arabicPeriod"/>
            </a:pPr>
            <a:r>
              <a:rPr lang="en-IN" dirty="0">
                <a:latin typeface="Times New Roman" panose="02020603050405020304" pitchFamily="18" charset="0"/>
                <a:cs typeface="Times New Roman" panose="02020603050405020304" pitchFamily="18" charset="0"/>
              </a:rPr>
              <a:t>• Preserves texture and grayscale information.</a:t>
            </a:r>
          </a:p>
          <a:p>
            <a:pPr>
              <a:buClr>
                <a:schemeClr val="accent3">
                  <a:lumMod val="50000"/>
                </a:schemeClr>
              </a:buClr>
            </a:pPr>
            <a:endParaRPr lang="en-IN" dirty="0">
              <a:latin typeface="Times New Roman" panose="02020603050405020304" pitchFamily="18" charset="0"/>
              <a:cs typeface="Times New Roman" panose="02020603050405020304" pitchFamily="18" charset="0"/>
            </a:endParaRPr>
          </a:p>
          <a:p>
            <a:pPr marL="285750" indent="-285750">
              <a:buClr>
                <a:schemeClr val="accent3">
                  <a:lumMod val="75000"/>
                </a:schemeClr>
              </a:buCl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Challenges: </a:t>
            </a:r>
          </a:p>
          <a:p>
            <a:pPr marL="342900" indent="-342900">
              <a:buClr>
                <a:schemeClr val="accent3">
                  <a:lumMod val="75000"/>
                </a:schemeClr>
              </a:buClr>
              <a:buFont typeface="+mj-lt"/>
              <a:buAutoNum type="arabicPeriod"/>
            </a:pPr>
            <a:r>
              <a:rPr lang="en-IN" dirty="0">
                <a:latin typeface="Times New Roman" panose="02020603050405020304" pitchFamily="18" charset="0"/>
                <a:cs typeface="Times New Roman" panose="02020603050405020304" pitchFamily="18" charset="0"/>
              </a:rPr>
              <a:t>• Training requires GPU acceleration. </a:t>
            </a:r>
          </a:p>
          <a:p>
            <a:pPr marL="342900" indent="-342900">
              <a:buClr>
                <a:schemeClr val="accent3">
                  <a:lumMod val="75000"/>
                </a:schemeClr>
              </a:buClr>
              <a:buFont typeface="+mj-lt"/>
              <a:buAutoNum type="arabicPeriod"/>
            </a:pPr>
            <a:r>
              <a:rPr lang="en-IN" dirty="0">
                <a:latin typeface="Times New Roman" panose="02020603050405020304" pitchFamily="18" charset="0"/>
                <a:cs typeface="Times New Roman" panose="02020603050405020304" pitchFamily="18" charset="0"/>
              </a:rPr>
              <a:t>• Over-enhancement may create artifacts. </a:t>
            </a:r>
          </a:p>
          <a:p>
            <a:pPr marL="342900" indent="-342900">
              <a:buClr>
                <a:schemeClr val="accent3">
                  <a:lumMod val="75000"/>
                </a:schemeClr>
              </a:buClr>
              <a:buFont typeface="+mj-lt"/>
              <a:buAutoNum type="arabicPeriod"/>
            </a:pPr>
            <a:r>
              <a:rPr lang="en-IN" dirty="0">
                <a:latin typeface="Times New Roman" panose="02020603050405020304" pitchFamily="18" charset="0"/>
                <a:cs typeface="Times New Roman" panose="02020603050405020304" pitchFamily="18" charset="0"/>
              </a:rPr>
              <a:t>• Parameter tuning is crucial to maintain realistic heart structures.</a:t>
            </a:r>
          </a:p>
        </p:txBody>
      </p:sp>
    </p:spTree>
    <p:extLst>
      <p:ext uri="{BB962C8B-B14F-4D97-AF65-F5344CB8AC3E}">
        <p14:creationId xmlns:p14="http://schemas.microsoft.com/office/powerpoint/2010/main" val="2176275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12A6-0DFE-98E4-3273-30538088359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p>
        </p:txBody>
      </p:sp>
      <p:pic>
        <p:nvPicPr>
          <p:cNvPr id="5" name="Content Placeholder 4">
            <a:extLst>
              <a:ext uri="{FF2B5EF4-FFF2-40B4-BE49-F238E27FC236}">
                <a16:creationId xmlns:a16="http://schemas.microsoft.com/office/drawing/2014/main" id="{308894D9-B580-EB1E-FF2D-E6D25B537593}"/>
              </a:ext>
            </a:extLst>
          </p:cNvPr>
          <p:cNvPicPr>
            <a:picLocks noGrp="1" noChangeAspect="1"/>
          </p:cNvPicPr>
          <p:nvPr>
            <p:ph idx="1"/>
          </p:nvPr>
        </p:nvPicPr>
        <p:blipFill>
          <a:blip r:embed="rId2"/>
          <a:stretch>
            <a:fillRect/>
          </a:stretch>
        </p:blipFill>
        <p:spPr>
          <a:xfrm>
            <a:off x="1256688" y="2800384"/>
            <a:ext cx="8764223" cy="2695951"/>
          </a:xfrm>
          <a:prstGeom prst="rect">
            <a:avLst/>
          </a:prstGeom>
        </p:spPr>
      </p:pic>
      <p:sp>
        <p:nvSpPr>
          <p:cNvPr id="6" name="TextBox 5">
            <a:extLst>
              <a:ext uri="{FF2B5EF4-FFF2-40B4-BE49-F238E27FC236}">
                <a16:creationId xmlns:a16="http://schemas.microsoft.com/office/drawing/2014/main" id="{A8453155-54D6-6ACE-A63D-F5F97F8CF36F}"/>
              </a:ext>
            </a:extLst>
          </p:cNvPr>
          <p:cNvSpPr txBox="1"/>
          <p:nvPr/>
        </p:nvSpPr>
        <p:spPr>
          <a:xfrm>
            <a:off x="1256688" y="2114652"/>
            <a:ext cx="2230291"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SRCNN Architecture:</a:t>
            </a:r>
          </a:p>
        </p:txBody>
      </p:sp>
    </p:spTree>
    <p:extLst>
      <p:ext uri="{BB962C8B-B14F-4D97-AF65-F5344CB8AC3E}">
        <p14:creationId xmlns:p14="http://schemas.microsoft.com/office/powerpoint/2010/main" val="1144909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6E27F-0816-868B-3764-E6E85F4BDC6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835DE50B-2694-45E0-EB22-CEB26D600F8A}"/>
              </a:ext>
            </a:extLst>
          </p:cNvPr>
          <p:cNvSpPr>
            <a:spLocks noGrp="1"/>
          </p:cNvSpPr>
          <p:nvPr>
            <p:ph idx="1"/>
          </p:nvPr>
        </p:nvSpPr>
        <p:spPr>
          <a:xfrm>
            <a:off x="1299323" y="1724877"/>
            <a:ext cx="10016704" cy="1916016"/>
          </a:xfrm>
        </p:spPr>
        <p:txBody>
          <a:bodyPr/>
          <a:lstStyle/>
          <a:p>
            <a:r>
              <a:rPr lang="en-US" dirty="0">
                <a:latin typeface="Times New Roman" panose="02020603050405020304" pitchFamily="18" charset="0"/>
                <a:cs typeface="Times New Roman" panose="02020603050405020304" pitchFamily="18" charset="0"/>
              </a:rPr>
              <a:t>Step 4: Validation Metrics </a:t>
            </a:r>
          </a:p>
          <a:p>
            <a:pPr marL="0" indent="0">
              <a:buNone/>
            </a:pPr>
            <a:r>
              <a:rPr lang="en-US" dirty="0">
                <a:latin typeface="Times New Roman" panose="02020603050405020304" pitchFamily="18" charset="0"/>
                <a:cs typeface="Times New Roman" panose="02020603050405020304" pitchFamily="18" charset="0"/>
              </a:rPr>
              <a:t>• PSNR (Peak Signal-to-Noise Ratio): Higher values indicate better noise reduction. </a:t>
            </a:r>
          </a:p>
          <a:p>
            <a:pPr marL="0" indent="0">
              <a:buNone/>
            </a:pPr>
            <a:r>
              <a:rPr lang="en-US" dirty="0">
                <a:latin typeface="Times New Roman" panose="02020603050405020304" pitchFamily="18" charset="0"/>
                <a:cs typeface="Times New Roman" panose="02020603050405020304" pitchFamily="18" charset="0"/>
              </a:rPr>
              <a:t>• SSIM (Structural Similarity Index): Closer to 1 indicates better structural preservation. </a:t>
            </a:r>
          </a:p>
          <a:p>
            <a:pPr marL="0" indent="0">
              <a:buNone/>
            </a:pPr>
            <a:r>
              <a:rPr lang="en-US" dirty="0">
                <a:latin typeface="Times New Roman" panose="02020603050405020304" pitchFamily="18" charset="0"/>
                <a:cs typeface="Times New Roman" panose="02020603050405020304" pitchFamily="18" charset="0"/>
              </a:rPr>
              <a:t>• Visual inspection: Before-and-after comparison confirms enhanced clarity of heart boundaries.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2DF3406-3DEF-8494-7E1F-8A30728DAD23}"/>
              </a:ext>
            </a:extLst>
          </p:cNvPr>
          <p:cNvPicPr>
            <a:picLocks noChangeAspect="1"/>
          </p:cNvPicPr>
          <p:nvPr/>
        </p:nvPicPr>
        <p:blipFill>
          <a:blip r:embed="rId2"/>
          <a:srcRect l="2786" t="6118" r="3383" b="4440"/>
          <a:stretch>
            <a:fillRect/>
          </a:stretch>
        </p:blipFill>
        <p:spPr>
          <a:xfrm>
            <a:off x="1381619" y="3773656"/>
            <a:ext cx="8759952" cy="2249424"/>
          </a:xfrm>
          <a:prstGeom prst="rect">
            <a:avLst/>
          </a:prstGeom>
        </p:spPr>
      </p:pic>
      <p:sp>
        <p:nvSpPr>
          <p:cNvPr id="6" name="TextBox 5">
            <a:extLst>
              <a:ext uri="{FF2B5EF4-FFF2-40B4-BE49-F238E27FC236}">
                <a16:creationId xmlns:a16="http://schemas.microsoft.com/office/drawing/2014/main" id="{A23228FD-3D4B-73AD-43CE-D4806FF9B54F}"/>
              </a:ext>
            </a:extLst>
          </p:cNvPr>
          <p:cNvSpPr txBox="1"/>
          <p:nvPr/>
        </p:nvSpPr>
        <p:spPr>
          <a:xfrm>
            <a:off x="1549528" y="6155844"/>
            <a:ext cx="88978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Comparison of original, baseline-enhanced, and SRCNN enhanced medical images.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4250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2AE43-AFF0-4B76-6252-DB5BF2DCD25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03C8ABC-C0F1-30E2-8E28-781825799A1B}"/>
              </a:ext>
            </a:extLst>
          </p:cNvPr>
          <p:cNvGraphicFramePr>
            <a:graphicFrameLocks noGrp="1"/>
          </p:cNvGraphicFramePr>
          <p:nvPr>
            <p:ph idx="1"/>
            <p:extLst>
              <p:ext uri="{D42A27DB-BD31-4B8C-83A1-F6EECF244321}">
                <p14:modId xmlns:p14="http://schemas.microsoft.com/office/powerpoint/2010/main" val="411935757"/>
              </p:ext>
            </p:extLst>
          </p:nvPr>
        </p:nvGraphicFramePr>
        <p:xfrm>
          <a:off x="471299" y="2228120"/>
          <a:ext cx="7387587" cy="3691536"/>
        </p:xfrm>
        <a:graphic>
          <a:graphicData uri="http://schemas.openxmlformats.org/drawingml/2006/table">
            <a:tbl>
              <a:tblPr>
                <a:tableStyleId>{073A0DAA-6AF3-43AB-8588-CEC1D06C72B9}</a:tableStyleId>
              </a:tblPr>
              <a:tblGrid>
                <a:gridCol w="2670683">
                  <a:extLst>
                    <a:ext uri="{9D8B030D-6E8A-4147-A177-3AD203B41FA5}">
                      <a16:colId xmlns:a16="http://schemas.microsoft.com/office/drawing/2014/main" val="4169700161"/>
                    </a:ext>
                  </a:extLst>
                </a:gridCol>
                <a:gridCol w="865963">
                  <a:extLst>
                    <a:ext uri="{9D8B030D-6E8A-4147-A177-3AD203B41FA5}">
                      <a16:colId xmlns:a16="http://schemas.microsoft.com/office/drawing/2014/main" val="1137515143"/>
                    </a:ext>
                  </a:extLst>
                </a:gridCol>
                <a:gridCol w="787747">
                  <a:extLst>
                    <a:ext uri="{9D8B030D-6E8A-4147-A177-3AD203B41FA5}">
                      <a16:colId xmlns:a16="http://schemas.microsoft.com/office/drawing/2014/main" val="2427162255"/>
                    </a:ext>
                  </a:extLst>
                </a:gridCol>
                <a:gridCol w="3063194">
                  <a:extLst>
                    <a:ext uri="{9D8B030D-6E8A-4147-A177-3AD203B41FA5}">
                      <a16:colId xmlns:a16="http://schemas.microsoft.com/office/drawing/2014/main" val="2242255993"/>
                    </a:ext>
                  </a:extLst>
                </a:gridCol>
              </a:tblGrid>
              <a:tr h="508576">
                <a:tc>
                  <a:txBody>
                    <a:bodyPr/>
                    <a:lstStyle/>
                    <a:p>
                      <a:pPr>
                        <a:buNone/>
                      </a:pPr>
                      <a:r>
                        <a:rPr lang="en-IN" sz="1800" dirty="0">
                          <a:latin typeface="Times New Roman" panose="02020603050405020304" pitchFamily="18" charset="0"/>
                          <a:cs typeface="Times New Roman" panose="02020603050405020304" pitchFamily="18" charset="0"/>
                        </a:rPr>
                        <a:t>Method</a:t>
                      </a:r>
                    </a:p>
                  </a:txBody>
                  <a:tcPr anchor="ctr"/>
                </a:tc>
                <a:tc>
                  <a:txBody>
                    <a:bodyPr/>
                    <a:lstStyle/>
                    <a:p>
                      <a:pPr>
                        <a:buNone/>
                      </a:pPr>
                      <a:r>
                        <a:rPr lang="en-IN" sz="1800">
                          <a:latin typeface="Times New Roman" panose="02020603050405020304" pitchFamily="18" charset="0"/>
                          <a:cs typeface="Times New Roman" panose="02020603050405020304" pitchFamily="18" charset="0"/>
                        </a:rPr>
                        <a:t>PSNR (dB)</a:t>
                      </a:r>
                    </a:p>
                  </a:txBody>
                  <a:tcPr anchor="ctr"/>
                </a:tc>
                <a:tc>
                  <a:txBody>
                    <a:bodyPr/>
                    <a:lstStyle/>
                    <a:p>
                      <a:pPr>
                        <a:buNone/>
                      </a:pPr>
                      <a:r>
                        <a:rPr lang="en-IN" sz="1800">
                          <a:latin typeface="Times New Roman" panose="02020603050405020304" pitchFamily="18" charset="0"/>
                          <a:cs typeface="Times New Roman" panose="02020603050405020304" pitchFamily="18" charset="0"/>
                        </a:rPr>
                        <a:t>SSIM</a:t>
                      </a:r>
                    </a:p>
                  </a:txBody>
                  <a:tcPr anchor="ctr"/>
                </a:tc>
                <a:tc>
                  <a:txBody>
                    <a:bodyPr/>
                    <a:lstStyle/>
                    <a:p>
                      <a:pPr>
                        <a:buNone/>
                      </a:pPr>
                      <a:r>
                        <a:rPr lang="en-IN" sz="1800">
                          <a:latin typeface="Times New Roman" panose="02020603050405020304" pitchFamily="18" charset="0"/>
                          <a:cs typeface="Times New Roman" panose="02020603050405020304" pitchFamily="18" charset="0"/>
                        </a:rPr>
                        <a:t>Observation</a:t>
                      </a:r>
                    </a:p>
                  </a:txBody>
                  <a:tcPr anchor="ctr"/>
                </a:tc>
                <a:extLst>
                  <a:ext uri="{0D108BD9-81ED-4DB2-BD59-A6C34878D82A}">
                    <a16:rowId xmlns:a16="http://schemas.microsoft.com/office/drawing/2014/main" val="1071651585"/>
                  </a:ext>
                </a:extLst>
              </a:tr>
              <a:tr h="1271440">
                <a:tc>
                  <a:txBody>
                    <a:bodyPr/>
                    <a:lstStyle/>
                    <a:p>
                      <a:pPr>
                        <a:buNone/>
                      </a:pPr>
                      <a:r>
                        <a:rPr lang="en-IN" sz="1800" dirty="0">
                          <a:latin typeface="Times New Roman" panose="02020603050405020304" pitchFamily="18" charset="0"/>
                          <a:cs typeface="Times New Roman" panose="02020603050405020304" pitchFamily="18" charset="0"/>
                        </a:rPr>
                        <a:t>Classical Enhancement</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31.21</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0.355</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Improved brightness, limited structure preservation</a:t>
                      </a:r>
                    </a:p>
                  </a:txBody>
                  <a:tcPr anchor="ctr"/>
                </a:tc>
                <a:extLst>
                  <a:ext uri="{0D108BD9-81ED-4DB2-BD59-A6C34878D82A}">
                    <a16:rowId xmlns:a16="http://schemas.microsoft.com/office/drawing/2014/main" val="2152759086"/>
                  </a:ext>
                </a:extLst>
              </a:tr>
              <a:tr h="890008">
                <a:tc>
                  <a:txBody>
                    <a:bodyPr/>
                    <a:lstStyle/>
                    <a:p>
                      <a:pPr>
                        <a:buNone/>
                      </a:pPr>
                      <a:r>
                        <a:rPr lang="en-IN" sz="1800" dirty="0">
                          <a:latin typeface="Times New Roman" panose="02020603050405020304" pitchFamily="18" charset="0"/>
                          <a:cs typeface="Times New Roman" panose="02020603050405020304" pitchFamily="18" charset="0"/>
                        </a:rPr>
                        <a:t>SRCNN (AI)</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22.47</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0.913</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Superior texture and structural clarity</a:t>
                      </a:r>
                    </a:p>
                  </a:txBody>
                  <a:tcPr anchor="ctr"/>
                </a:tc>
                <a:extLst>
                  <a:ext uri="{0D108BD9-81ED-4DB2-BD59-A6C34878D82A}">
                    <a16:rowId xmlns:a16="http://schemas.microsoft.com/office/drawing/2014/main" val="4129660605"/>
                  </a:ext>
                </a:extLst>
              </a:tr>
              <a:tr h="890008">
                <a:tc>
                  <a:txBody>
                    <a:bodyPr/>
                    <a:lstStyle/>
                    <a:p>
                      <a:pPr>
                        <a:buNone/>
                      </a:pPr>
                      <a:r>
                        <a:rPr lang="en-IN" sz="1800">
                          <a:latin typeface="Times New Roman" panose="02020603050405020304" pitchFamily="18" charset="0"/>
                          <a:cs typeface="Times New Roman" panose="02020603050405020304" pitchFamily="18" charset="0"/>
                        </a:rPr>
                        <a:t>Batch Average (10 images)</a:t>
                      </a:r>
                    </a:p>
                  </a:txBody>
                  <a:tcPr anchor="ctr"/>
                </a:tc>
                <a:tc>
                  <a:txBody>
                    <a:bodyPr/>
                    <a:lstStyle/>
                    <a:p>
                      <a:pPr>
                        <a:buNone/>
                      </a:pPr>
                      <a:r>
                        <a:rPr lang="en-IN" sz="1800">
                          <a:latin typeface="Times New Roman" panose="02020603050405020304" pitchFamily="18" charset="0"/>
                          <a:cs typeface="Times New Roman" panose="02020603050405020304" pitchFamily="18" charset="0"/>
                        </a:rPr>
                        <a:t>27.84</a:t>
                      </a:r>
                    </a:p>
                  </a:txBody>
                  <a:tcPr anchor="ctr"/>
                </a:tc>
                <a:tc>
                  <a:txBody>
                    <a:bodyPr/>
                    <a:lstStyle/>
                    <a:p>
                      <a:pPr>
                        <a:buNone/>
                      </a:pPr>
                      <a:r>
                        <a:rPr lang="en-IN" sz="1800">
                          <a:latin typeface="Times New Roman" panose="02020603050405020304" pitchFamily="18" charset="0"/>
                          <a:cs typeface="Times New Roman" panose="02020603050405020304" pitchFamily="18" charset="0"/>
                        </a:rPr>
                        <a:t>0.754</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Consistent results across test images</a:t>
                      </a:r>
                    </a:p>
                  </a:txBody>
                  <a:tcPr anchor="ctr"/>
                </a:tc>
                <a:extLst>
                  <a:ext uri="{0D108BD9-81ED-4DB2-BD59-A6C34878D82A}">
                    <a16:rowId xmlns:a16="http://schemas.microsoft.com/office/drawing/2014/main" val="1331497893"/>
                  </a:ext>
                </a:extLst>
              </a:tr>
            </a:tbl>
          </a:graphicData>
        </a:graphic>
      </p:graphicFrame>
      <p:sp>
        <p:nvSpPr>
          <p:cNvPr id="5" name="TextBox 4">
            <a:extLst>
              <a:ext uri="{FF2B5EF4-FFF2-40B4-BE49-F238E27FC236}">
                <a16:creationId xmlns:a16="http://schemas.microsoft.com/office/drawing/2014/main" id="{1536740C-91E6-224E-9A12-CB3AA0AC9A8E}"/>
              </a:ext>
            </a:extLst>
          </p:cNvPr>
          <p:cNvSpPr txBox="1"/>
          <p:nvPr/>
        </p:nvSpPr>
        <p:spPr>
          <a:xfrm>
            <a:off x="8037576" y="3196725"/>
            <a:ext cx="3886199"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Enhanced cardiac region visibility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Preserved diagnostic structure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Reduced noise and improved sharpness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928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514C-ABA0-CD5C-DDB9-50806CDEBD9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&amp; SOLUTIONS</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74858C07-8CFB-DD3C-7797-ACEE67BB6499}"/>
              </a:ext>
            </a:extLst>
          </p:cNvPr>
          <p:cNvGraphicFramePr>
            <a:graphicFrameLocks noGrp="1"/>
          </p:cNvGraphicFramePr>
          <p:nvPr>
            <p:ph idx="1"/>
            <p:extLst>
              <p:ext uri="{D42A27DB-BD31-4B8C-83A1-F6EECF244321}">
                <p14:modId xmlns:p14="http://schemas.microsoft.com/office/powerpoint/2010/main" val="3688591039"/>
              </p:ext>
            </p:extLst>
          </p:nvPr>
        </p:nvGraphicFramePr>
        <p:xfrm>
          <a:off x="910209" y="2575592"/>
          <a:ext cx="9744932" cy="2865090"/>
        </p:xfrm>
        <a:graphic>
          <a:graphicData uri="http://schemas.openxmlformats.org/drawingml/2006/table">
            <a:tbl>
              <a:tblPr>
                <a:tableStyleId>{073A0DAA-6AF3-43AB-8588-CEC1D06C72B9}</a:tableStyleId>
              </a:tblPr>
              <a:tblGrid>
                <a:gridCol w="3718243">
                  <a:extLst>
                    <a:ext uri="{9D8B030D-6E8A-4147-A177-3AD203B41FA5}">
                      <a16:colId xmlns:a16="http://schemas.microsoft.com/office/drawing/2014/main" val="565717448"/>
                    </a:ext>
                  </a:extLst>
                </a:gridCol>
                <a:gridCol w="6026689">
                  <a:extLst>
                    <a:ext uri="{9D8B030D-6E8A-4147-A177-3AD203B41FA5}">
                      <a16:colId xmlns:a16="http://schemas.microsoft.com/office/drawing/2014/main" val="1968967911"/>
                    </a:ext>
                  </a:extLst>
                </a:gridCol>
              </a:tblGrid>
              <a:tr h="573018">
                <a:tc>
                  <a:txBody>
                    <a:bodyPr/>
                    <a:lstStyle/>
                    <a:p>
                      <a:pPr>
                        <a:buNone/>
                      </a:pPr>
                      <a:r>
                        <a:rPr lang="en-IN" b="1" dirty="0">
                          <a:latin typeface="Times New Roman" panose="02020603050405020304" pitchFamily="18" charset="0"/>
                          <a:cs typeface="Times New Roman" panose="02020603050405020304" pitchFamily="18" charset="0"/>
                        </a:rPr>
                        <a:t>Challenge</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Solution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6376328"/>
                  </a:ext>
                </a:extLst>
              </a:tr>
              <a:tr h="573018">
                <a:tc>
                  <a:txBody>
                    <a:bodyPr/>
                    <a:lstStyle/>
                    <a:p>
                      <a:pPr>
                        <a:buNone/>
                      </a:pPr>
                      <a:r>
                        <a:rPr lang="en-IN" dirty="0">
                          <a:latin typeface="Times New Roman" panose="02020603050405020304" pitchFamily="18" charset="0"/>
                          <a:cs typeface="Times New Roman" panose="02020603050405020304" pitchFamily="18" charset="0"/>
                        </a:rPr>
                        <a:t>Long preprocessing &amp; training times</a:t>
                      </a:r>
                    </a:p>
                  </a:txBody>
                  <a:tcPr anchor="ctr"/>
                </a:tc>
                <a:tc>
                  <a:txBody>
                    <a:bodyPr/>
                    <a:lstStyle/>
                    <a:p>
                      <a:pPr>
                        <a:buNone/>
                      </a:pPr>
                      <a:r>
                        <a:rPr lang="en-US">
                          <a:latin typeface="Times New Roman" panose="02020603050405020304" pitchFamily="18" charset="0"/>
                          <a:cs typeface="Times New Roman" panose="02020603050405020304" pitchFamily="18" charset="0"/>
                        </a:rPr>
                        <a:t>Used smaller batches, GPU optimization</a:t>
                      </a:r>
                    </a:p>
                  </a:txBody>
                  <a:tcPr anchor="ctr"/>
                </a:tc>
                <a:extLst>
                  <a:ext uri="{0D108BD9-81ED-4DB2-BD59-A6C34878D82A}">
                    <a16:rowId xmlns:a16="http://schemas.microsoft.com/office/drawing/2014/main" val="1945248859"/>
                  </a:ext>
                </a:extLst>
              </a:tr>
              <a:tr h="573018">
                <a:tc>
                  <a:txBody>
                    <a:bodyPr/>
                    <a:lstStyle/>
                    <a:p>
                      <a:pPr>
                        <a:buNone/>
                      </a:pPr>
                      <a:r>
                        <a:rPr lang="en-IN" dirty="0">
                          <a:latin typeface="Times New Roman" panose="02020603050405020304" pitchFamily="18" charset="0"/>
                          <a:cs typeface="Times New Roman" panose="02020603050405020304" pitchFamily="18" charset="0"/>
                        </a:rPr>
                        <a:t>Maintaining diagnostic integrity</a:t>
                      </a:r>
                    </a:p>
                  </a:txBody>
                  <a:tcPr anchor="ctr"/>
                </a:tc>
                <a:tc>
                  <a:txBody>
                    <a:bodyPr/>
                    <a:lstStyle/>
                    <a:p>
                      <a:pPr>
                        <a:buNone/>
                      </a:pPr>
                      <a:r>
                        <a:rPr lang="en-IN">
                          <a:latin typeface="Times New Roman" panose="02020603050405020304" pitchFamily="18" charset="0"/>
                          <a:cs typeface="Times New Roman" panose="02020603050405020304" pitchFamily="18" charset="0"/>
                        </a:rPr>
                        <a:t>Applied conservative enhancement limits</a:t>
                      </a:r>
                    </a:p>
                  </a:txBody>
                  <a:tcPr anchor="ctr"/>
                </a:tc>
                <a:extLst>
                  <a:ext uri="{0D108BD9-81ED-4DB2-BD59-A6C34878D82A}">
                    <a16:rowId xmlns:a16="http://schemas.microsoft.com/office/drawing/2014/main" val="3289529124"/>
                  </a:ext>
                </a:extLst>
              </a:tr>
              <a:tr h="573018">
                <a:tc>
                  <a:txBody>
                    <a:bodyPr/>
                    <a:lstStyle/>
                    <a:p>
                      <a:pPr>
                        <a:buNone/>
                      </a:pPr>
                      <a:r>
                        <a:rPr lang="en-IN">
                          <a:latin typeface="Times New Roman" panose="02020603050405020304" pitchFamily="18" charset="0"/>
                          <a:cs typeface="Times New Roman" panose="02020603050405020304" pitchFamily="18" charset="0"/>
                        </a:rPr>
                        <a:t>Limited local GPU resources</a:t>
                      </a:r>
                    </a:p>
                  </a:txBody>
                  <a:tcPr anchor="ctr"/>
                </a:tc>
                <a:tc>
                  <a:txBody>
                    <a:bodyPr/>
                    <a:lstStyle/>
                    <a:p>
                      <a:pPr>
                        <a:buNone/>
                      </a:pPr>
                      <a:r>
                        <a:rPr lang="en-US">
                          <a:latin typeface="Times New Roman" panose="02020603050405020304" pitchFamily="18" charset="0"/>
                          <a:cs typeface="Times New Roman" panose="02020603050405020304" pitchFamily="18" charset="0"/>
                        </a:rPr>
                        <a:t>Leveraged cloud environments for model training</a:t>
                      </a:r>
                    </a:p>
                  </a:txBody>
                  <a:tcPr anchor="ctr"/>
                </a:tc>
                <a:extLst>
                  <a:ext uri="{0D108BD9-81ED-4DB2-BD59-A6C34878D82A}">
                    <a16:rowId xmlns:a16="http://schemas.microsoft.com/office/drawing/2014/main" val="1229329003"/>
                  </a:ext>
                </a:extLst>
              </a:tr>
              <a:tr h="573018">
                <a:tc>
                  <a:txBody>
                    <a:bodyPr/>
                    <a:lstStyle/>
                    <a:p>
                      <a:pPr>
                        <a:buNone/>
                      </a:pPr>
                      <a:r>
                        <a:rPr lang="en-IN" dirty="0">
                          <a:latin typeface="Times New Roman" panose="02020603050405020304" pitchFamily="18" charset="0"/>
                          <a:cs typeface="Times New Roman" panose="02020603050405020304" pitchFamily="18" charset="0"/>
                        </a:rPr>
                        <a:t>Artifact creation during enhancement</a:t>
                      </a:r>
                    </a:p>
                  </a:txBody>
                  <a:tcPr anchor="ctr"/>
                </a:tc>
                <a:tc>
                  <a:txBody>
                    <a:bodyPr/>
                    <a:lstStyle/>
                    <a:p>
                      <a:pPr>
                        <a:buNone/>
                      </a:pPr>
                      <a:r>
                        <a:rPr lang="en-US" dirty="0">
                          <a:latin typeface="Times New Roman" panose="02020603050405020304" pitchFamily="18" charset="0"/>
                          <a:cs typeface="Times New Roman" panose="02020603050405020304" pitchFamily="18" charset="0"/>
                        </a:rPr>
                        <a:t>Adjusted model parameters and training epochs</a:t>
                      </a:r>
                    </a:p>
                  </a:txBody>
                  <a:tcPr anchor="ctr"/>
                </a:tc>
                <a:extLst>
                  <a:ext uri="{0D108BD9-81ED-4DB2-BD59-A6C34878D82A}">
                    <a16:rowId xmlns:a16="http://schemas.microsoft.com/office/drawing/2014/main" val="2285504278"/>
                  </a:ext>
                </a:extLst>
              </a:tr>
            </a:tbl>
          </a:graphicData>
        </a:graphic>
      </p:graphicFrame>
    </p:spTree>
    <p:extLst>
      <p:ext uri="{BB962C8B-B14F-4D97-AF65-F5344CB8AC3E}">
        <p14:creationId xmlns:p14="http://schemas.microsoft.com/office/powerpoint/2010/main" val="2566767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42321-A22C-BBA1-707E-14DE2F64AEC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SUMMARY</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2E3994F-C837-CC9C-B729-B9B0F13A9EB0}"/>
              </a:ext>
            </a:extLst>
          </p:cNvPr>
          <p:cNvSpPr>
            <a:spLocks noGrp="1" noChangeArrowheads="1"/>
          </p:cNvSpPr>
          <p:nvPr>
            <p:ph idx="1"/>
          </p:nvPr>
        </p:nvSpPr>
        <p:spPr bwMode="auto">
          <a:xfrm>
            <a:off x="581192" y="2621276"/>
            <a:ext cx="102453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Heart CT and MRI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from Kaggle, along with preprocessed X-rays from Milestone 1.</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(resizing to 256×256, normalization, dataset splitting).</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SRCNN (Super-Resolution CNN)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image clarity.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results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PSNR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(Peak Signal-to-Noise Ratio)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SSIM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(Structural Similarity Index).</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baseline classical enhancement vs AI-based SRCNN.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Validated visual improvements — sharper cardiac boundaries, better brightness and contrast.</a:t>
            </a:r>
          </a:p>
        </p:txBody>
      </p:sp>
    </p:spTree>
    <p:extLst>
      <p:ext uri="{BB962C8B-B14F-4D97-AF65-F5344CB8AC3E}">
        <p14:creationId xmlns:p14="http://schemas.microsoft.com/office/powerpoint/2010/main" val="921192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582EDD-CDDA-C353-7B58-8C3CFA19E654}"/>
              </a:ext>
            </a:extLst>
          </p:cNvPr>
          <p:cNvSpPr>
            <a:spLocks noGrp="1"/>
          </p:cNvSpPr>
          <p:nvPr>
            <p:ph idx="1"/>
          </p:nvPr>
        </p:nvSpPr>
        <p:spPr>
          <a:xfrm>
            <a:off x="3931920" y="3236976"/>
            <a:ext cx="3968497" cy="1295943"/>
          </a:xfrm>
        </p:spPr>
        <p:txBody>
          <a:bodyPr>
            <a:noAutofit/>
          </a:bodyPr>
          <a:lstStyle/>
          <a:p>
            <a:pPr marL="0" indent="0">
              <a:buNone/>
            </a:pPr>
            <a:r>
              <a:rPr lang="en-US" sz="4400" b="1" dirty="0">
                <a:solidFill>
                  <a:schemeClr val="accent3">
                    <a:lumMod val="75000"/>
                  </a:schemeClr>
                </a:solidFill>
                <a:latin typeface="Times New Roman" panose="02020603050405020304" pitchFamily="18" charset="0"/>
                <a:cs typeface="Times New Roman" panose="02020603050405020304" pitchFamily="18" charset="0"/>
              </a:rPr>
              <a:t>THANK YOU</a:t>
            </a:r>
            <a:endParaRPr lang="en-IN" sz="4400" b="1" dirty="0">
              <a:solidFill>
                <a:schemeClr val="accent3">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4606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90</TotalTime>
  <Words>611</Words>
  <Application>Microsoft Office PowerPoint</Application>
  <PresentationFormat>Widescreen</PresentationFormat>
  <Paragraphs>91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Gill Sans MT</vt:lpstr>
      <vt:lpstr>Times New Roman</vt:lpstr>
      <vt:lpstr>Wingdings</vt:lpstr>
      <vt:lpstr>Wingdings 2</vt:lpstr>
      <vt:lpstr>Dividend</vt:lpstr>
      <vt:lpstr>AI-Powered Enhanced  EHR Imaging &amp; Documentation System </vt:lpstr>
      <vt:lpstr>Project Statement:</vt:lpstr>
      <vt:lpstr>Module 2: Medical Imaging Enhancement</vt:lpstr>
      <vt:lpstr>Methodology</vt:lpstr>
      <vt:lpstr>Methodology</vt:lpstr>
      <vt:lpstr>Methodology</vt:lpstr>
      <vt:lpstr>Methodology</vt:lpstr>
      <vt:lpstr>Methodology</vt:lpstr>
      <vt:lpstr>RESULTS</vt:lpstr>
      <vt:lpstr>CHALLENGES &amp; SOLUTIONS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nikshitha6@outlook.com</dc:creator>
  <cp:lastModifiedBy>nikshitha6@outlook.com</cp:lastModifiedBy>
  <cp:revision>2</cp:revision>
  <dcterms:created xsi:type="dcterms:W3CDTF">2025-11-09T07:20:26Z</dcterms:created>
  <dcterms:modified xsi:type="dcterms:W3CDTF">2025-11-09T08:50:58Z</dcterms:modified>
</cp:coreProperties>
</file>